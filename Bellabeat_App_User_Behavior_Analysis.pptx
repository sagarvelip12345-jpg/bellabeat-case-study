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lipkarishma22@gmail.com" userId="54ec38a467de9948" providerId="LiveId" clId="{14C851D1-795B-4559-A28D-2B58D90A1BFE}"/>
    <pc:docChg chg="modSld">
      <pc:chgData name="velipkarishma22@gmail.com" userId="54ec38a467de9948" providerId="LiveId" clId="{14C851D1-795B-4559-A28D-2B58D90A1BFE}" dt="2026-07-10T07:51:25.227" v="106" actId="20577"/>
      <pc:docMkLst>
        <pc:docMk/>
      </pc:docMkLst>
      <pc:sldChg chg="modSp mod">
        <pc:chgData name="velipkarishma22@gmail.com" userId="54ec38a467de9948" providerId="LiveId" clId="{14C851D1-795B-4559-A28D-2B58D90A1BFE}" dt="2026-07-10T07:46:06.111" v="26" actId="20577"/>
        <pc:sldMkLst>
          <pc:docMk/>
          <pc:sldMk cId="0" sldId="256"/>
        </pc:sldMkLst>
        <pc:spChg chg="mod">
          <ac:chgData name="velipkarishma22@gmail.com" userId="54ec38a467de9948" providerId="LiveId" clId="{14C851D1-795B-4559-A28D-2B58D90A1BFE}" dt="2026-07-10T07:46:06.111" v="26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velipkarishma22@gmail.com" userId="54ec38a467de9948" providerId="LiveId" clId="{14C851D1-795B-4559-A28D-2B58D90A1BFE}" dt="2026-07-10T07:51:25.227" v="106" actId="20577"/>
        <pc:sldMkLst>
          <pc:docMk/>
          <pc:sldMk cId="0" sldId="261"/>
        </pc:sldMkLst>
        <pc:spChg chg="mod">
          <ac:chgData name="velipkarishma22@gmail.com" userId="54ec38a467de9948" providerId="LiveId" clId="{14C851D1-795B-4559-A28D-2B58D90A1BFE}" dt="2026-07-10T07:51:25.227" v="106" actId="20577"/>
          <ac:spMkLst>
            <pc:docMk/>
            <pc:sldMk cId="0" sldId="261"/>
            <ac:spMk id="6" creationId="{00000000-0000-0000-0000-000000000000}"/>
          </ac:spMkLst>
        </pc:spChg>
      </pc:sldChg>
      <pc:sldChg chg="modSp mod">
        <pc:chgData name="velipkarishma22@gmail.com" userId="54ec38a467de9948" providerId="LiveId" clId="{14C851D1-795B-4559-A28D-2B58D90A1BFE}" dt="2026-07-10T07:50:30.942" v="104"/>
        <pc:sldMkLst>
          <pc:docMk/>
          <pc:sldMk cId="0" sldId="262"/>
        </pc:sldMkLst>
        <pc:spChg chg="mod">
          <ac:chgData name="velipkarishma22@gmail.com" userId="54ec38a467de9948" providerId="LiveId" clId="{14C851D1-795B-4559-A28D-2B58D90A1BFE}" dt="2026-07-10T07:50:22.140" v="102" actId="20577"/>
          <ac:spMkLst>
            <pc:docMk/>
            <pc:sldMk cId="0" sldId="262"/>
            <ac:spMk id="8" creationId="{00000000-0000-0000-0000-000000000000}"/>
          </ac:spMkLst>
        </pc:spChg>
        <pc:graphicFrameChg chg="mod">
          <ac:chgData name="velipkarishma22@gmail.com" userId="54ec38a467de9948" providerId="LiveId" clId="{14C851D1-795B-4559-A28D-2B58D90A1BFE}" dt="2026-07-10T07:50:30.942" v="104"/>
          <ac:graphicFrameMkLst>
            <pc:docMk/>
            <pc:sldMk cId="0" sldId="262"/>
            <ac:graphicFrameMk id="10" creationId="{00000000-0000-0000-0000-000000000000}"/>
          </ac:graphicFrameMkLst>
        </pc:graphicFrameChg>
      </pc:sldChg>
      <pc:sldChg chg="addSp modSp mod">
        <pc:chgData name="velipkarishma22@gmail.com" userId="54ec38a467de9948" providerId="LiveId" clId="{14C851D1-795B-4559-A28D-2B58D90A1BFE}" dt="2026-07-10T07:49:11.145" v="88" actId="20577"/>
        <pc:sldMkLst>
          <pc:docMk/>
          <pc:sldMk cId="0" sldId="266"/>
        </pc:sldMkLst>
        <pc:spChg chg="mod">
          <ac:chgData name="velipkarishma22@gmail.com" userId="54ec38a467de9948" providerId="LiveId" clId="{14C851D1-795B-4559-A28D-2B58D90A1BFE}" dt="2026-07-10T07:49:11.145" v="88" actId="20577"/>
          <ac:spMkLst>
            <pc:docMk/>
            <pc:sldMk cId="0" sldId="266"/>
            <ac:spMk id="6" creationId="{00000000-0000-0000-0000-000000000000}"/>
          </ac:spMkLst>
        </pc:spChg>
        <pc:spChg chg="add">
          <ac:chgData name="velipkarishma22@gmail.com" userId="54ec38a467de9948" providerId="LiveId" clId="{14C851D1-795B-4559-A28D-2B58D90A1BFE}" dt="2026-07-10T07:48:44.916" v="54"/>
          <ac:spMkLst>
            <pc:docMk/>
            <pc:sldMk cId="0" sldId="266"/>
            <ac:spMk id="9" creationId="{EEF0BFE9-DCE3-EA66-77A2-1B35D824892A}"/>
          </ac:spMkLst>
        </pc:spChg>
        <pc:spChg chg="add">
          <ac:chgData name="velipkarishma22@gmail.com" userId="54ec38a467de9948" providerId="LiveId" clId="{14C851D1-795B-4559-A28D-2B58D90A1BFE}" dt="2026-07-10T07:48:44.916" v="54"/>
          <ac:spMkLst>
            <pc:docMk/>
            <pc:sldMk cId="0" sldId="266"/>
            <ac:spMk id="10" creationId="{71E6659B-4669-76C5-BF27-8B66DE5121F2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Reached Goal</c:v>
                </c:pt>
              </c:strCache>
            </c:strRef>
          </c:tx>
          <c:spPr>
            <a:solidFill>
              <a:srgbClr val="1668B3"/>
            </a:solidFill>
            <a:effectLst/>
          </c:spPr>
          <c:invertIfNegative val="0"/>
          <c:cat>
            <c:strRef>
              <c:f>Sheet1!$A$2:$A$2</c:f>
              <c:strCache>
                <c:ptCount val="1"/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32.229999999999997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CE-4CDD-954C-41341849B5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Below Goal</c:v>
                </c:pt>
              </c:strCache>
            </c:strRef>
          </c:tx>
          <c:spPr>
            <a:solidFill>
              <a:srgbClr val="D8DBDF"/>
            </a:solidFill>
            <a:effectLst/>
          </c:spPr>
          <c:invertIfNegative val="0"/>
          <c:cat>
            <c:strRef>
              <c:f>Sheet1!$A$2:$A$2</c:f>
              <c:strCache>
                <c:ptCount val="1"/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67.77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8CE-4CDD-954C-41341849B5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spPr>
            <a:solidFill>
              <a:srgbClr val="1668B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CF0-4E7A-A865-892D3F2FC756}"/>
              </c:ext>
            </c:extLst>
          </c:dPt>
          <c:dPt>
            <c:idx val="1"/>
            <c:invertIfNegative val="0"/>
            <c:bubble3D val="0"/>
            <c:spPr>
              <a:solidFill>
                <a:srgbClr val="D8DBD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CF0-4E7A-A865-892D3F2FC756}"/>
              </c:ext>
            </c:extLst>
          </c:dPt>
          <c:dPt>
            <c:idx val="2"/>
            <c:invertIfNegative val="0"/>
            <c:bubble3D val="0"/>
            <c:spPr>
              <a:solidFill>
                <a:srgbClr val="D8DBD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CF0-4E7A-A865-892D3F2FC756}"/>
              </c:ext>
            </c:extLst>
          </c:dPt>
          <c:dPt>
            <c:idx val="3"/>
            <c:invertIfNegative val="0"/>
            <c:bubble3D val="0"/>
            <c:spPr>
              <a:solidFill>
                <a:srgbClr val="D8DBD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CF0-4E7A-A865-892D3F2FC756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50" b="1" i="0" u="none" strike="noStrike">
                    <a:solidFill>
                      <a:srgbClr val="2B2E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Sedentary</c:v>
                </c:pt>
                <c:pt idx="1">
                  <c:v>Lightly Active</c:v>
                </c:pt>
                <c:pt idx="2">
                  <c:v>Fairly Active</c:v>
                </c:pt>
                <c:pt idx="3">
                  <c:v>Very Active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991</c:v>
                </c:pt>
                <c:pt idx="1">
                  <c:v>193</c:v>
                </c:pt>
                <c:pt idx="2">
                  <c:v>14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CF0-4E7A-A865-892D3F2FC7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B2E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5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1668B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668B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D27-448C-9E6E-3DA8429C27C5}"/>
              </c:ext>
            </c:extLst>
          </c:dPt>
          <c:dPt>
            <c:idx val="1"/>
            <c:invertIfNegative val="0"/>
            <c:bubble3D val="0"/>
            <c:spPr>
              <a:solidFill>
                <a:srgbClr val="D8DBD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D27-448C-9E6E-3DA8429C27C5}"/>
              </c:ext>
            </c:extLst>
          </c:dPt>
          <c:dPt>
            <c:idx val="2"/>
            <c:invertIfNegative val="0"/>
            <c:bubble3D val="0"/>
            <c:spPr>
              <a:solidFill>
                <a:srgbClr val="D8DBD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D27-448C-9E6E-3DA8429C27C5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50" b="1" i="0" u="none" strike="noStrike">
                    <a:solidFill>
                      <a:srgbClr val="2B2E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7–9 Hours (Healthy)</c:v>
                </c:pt>
                <c:pt idx="1">
                  <c:v>Under 7 Hours</c:v>
                </c:pt>
                <c:pt idx="2">
                  <c:v>Over 9 Hours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190</c:v>
                </c:pt>
                <c:pt idx="1">
                  <c:v>181</c:v>
                </c:pt>
                <c:pt idx="2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D27-448C-9E6E-3DA8429C27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2B2E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Record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9CA3AB"/>
              </a:solidFill>
              <a:ln w="9525" cap="flat">
                <a:solidFill>
                  <a:srgbClr val="9CA3AB"/>
                </a:solidFill>
                <a:prstDash val="solid"/>
                <a:round/>
              </a:ln>
              <a:effectLst/>
            </c:spPr>
          </c:marker>
          <c:xVal>
            <c:numRef>
              <c:f>Sheet1!$A$2:$A$32</c:f>
              <c:numCache>
                <c:formatCode>General</c:formatCode>
                <c:ptCount val="31"/>
                <c:pt idx="0">
                  <c:v>6941</c:v>
                </c:pt>
                <c:pt idx="1">
                  <c:v>3849</c:v>
                </c:pt>
                <c:pt idx="2">
                  <c:v>5490</c:v>
                </c:pt>
                <c:pt idx="3">
                  <c:v>15018</c:v>
                </c:pt>
                <c:pt idx="4">
                  <c:v>5760</c:v>
                </c:pt>
                <c:pt idx="5">
                  <c:v>9583</c:v>
                </c:pt>
                <c:pt idx="6">
                  <c:v>8738</c:v>
                </c:pt>
                <c:pt idx="7">
                  <c:v>5653</c:v>
                </c:pt>
                <c:pt idx="8">
                  <c:v>13370</c:v>
                </c:pt>
                <c:pt idx="9">
                  <c:v>7955</c:v>
                </c:pt>
                <c:pt idx="10">
                  <c:v>5785</c:v>
                </c:pt>
                <c:pt idx="11">
                  <c:v>12550</c:v>
                </c:pt>
                <c:pt idx="12">
                  <c:v>6597</c:v>
                </c:pt>
                <c:pt idx="13">
                  <c:v>5887</c:v>
                </c:pt>
                <c:pt idx="14">
                  <c:v>8977</c:v>
                </c:pt>
                <c:pt idx="15">
                  <c:v>7460</c:v>
                </c:pt>
                <c:pt idx="16">
                  <c:v>11581</c:v>
                </c:pt>
                <c:pt idx="17">
                  <c:v>10379</c:v>
                </c:pt>
                <c:pt idx="18">
                  <c:v>6752</c:v>
                </c:pt>
                <c:pt idx="19">
                  <c:v>2524</c:v>
                </c:pt>
                <c:pt idx="20">
                  <c:v>10019</c:v>
                </c:pt>
                <c:pt idx="21">
                  <c:v>4701</c:v>
                </c:pt>
                <c:pt idx="22">
                  <c:v>3812</c:v>
                </c:pt>
                <c:pt idx="23">
                  <c:v>8914</c:v>
                </c:pt>
                <c:pt idx="24">
                  <c:v>10070</c:v>
                </c:pt>
                <c:pt idx="25">
                  <c:v>4225</c:v>
                </c:pt>
                <c:pt idx="26">
                  <c:v>5601</c:v>
                </c:pt>
                <c:pt idx="27">
                  <c:v>8931</c:v>
                </c:pt>
                <c:pt idx="28">
                  <c:v>10954</c:v>
                </c:pt>
                <c:pt idx="29">
                  <c:v>671</c:v>
                </c:pt>
                <c:pt idx="30">
                  <c:v>3376</c:v>
                </c:pt>
              </c:numCache>
            </c:numRef>
          </c:xVal>
          <c:yVal>
            <c:numRef>
              <c:f>Sheet1!$B$2:$B$32</c:f>
              <c:numCache>
                <c:formatCode>General</c:formatCode>
                <c:ptCount val="31"/>
                <c:pt idx="0">
                  <c:v>2769</c:v>
                </c:pt>
                <c:pt idx="1">
                  <c:v>2358</c:v>
                </c:pt>
                <c:pt idx="2">
                  <c:v>2105</c:v>
                </c:pt>
                <c:pt idx="3">
                  <c:v>3102</c:v>
                </c:pt>
                <c:pt idx="4">
                  <c:v>2539</c:v>
                </c:pt>
                <c:pt idx="5">
                  <c:v>2031</c:v>
                </c:pt>
                <c:pt idx="6">
                  <c:v>2109</c:v>
                </c:pt>
                <c:pt idx="7">
                  <c:v>2399</c:v>
                </c:pt>
                <c:pt idx="8">
                  <c:v>2671</c:v>
                </c:pt>
                <c:pt idx="9">
                  <c:v>2286</c:v>
                </c:pt>
                <c:pt idx="10">
                  <c:v>2383</c:v>
                </c:pt>
                <c:pt idx="11">
                  <c:v>2635</c:v>
                </c:pt>
                <c:pt idx="12">
                  <c:v>3366</c:v>
                </c:pt>
                <c:pt idx="13">
                  <c:v>2127</c:v>
                </c:pt>
                <c:pt idx="14">
                  <c:v>2046</c:v>
                </c:pt>
                <c:pt idx="15">
                  <c:v>2633</c:v>
                </c:pt>
                <c:pt idx="16">
                  <c:v>2467</c:v>
                </c:pt>
                <c:pt idx="17">
                  <c:v>2924</c:v>
                </c:pt>
                <c:pt idx="18">
                  <c:v>2949</c:v>
                </c:pt>
                <c:pt idx="19">
                  <c:v>1576</c:v>
                </c:pt>
                <c:pt idx="20">
                  <c:v>2474</c:v>
                </c:pt>
                <c:pt idx="21">
                  <c:v>2183</c:v>
                </c:pt>
                <c:pt idx="22">
                  <c:v>1690</c:v>
                </c:pt>
                <c:pt idx="23">
                  <c:v>1806</c:v>
                </c:pt>
                <c:pt idx="24">
                  <c:v>2459</c:v>
                </c:pt>
                <c:pt idx="25">
                  <c:v>1665</c:v>
                </c:pt>
                <c:pt idx="26">
                  <c:v>2305</c:v>
                </c:pt>
                <c:pt idx="27">
                  <c:v>2245</c:v>
                </c:pt>
                <c:pt idx="28">
                  <c:v>2796</c:v>
                </c:pt>
                <c:pt idx="29">
                  <c:v>1314</c:v>
                </c:pt>
                <c:pt idx="30">
                  <c:v>1927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0DE-461E-8C03-B364164ED3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600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B6067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5B6067"/>
                    </a:solidFill>
                    <a:latin typeface="Arial"/>
                  </a:rPr>
                  <a:t>Daily Steps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3600"/>
          <c:min val="1000"/>
        </c:scaling>
        <c:delete val="0"/>
        <c:axPos val="l"/>
        <c:majorGridlines>
          <c:spPr>
            <a:ln w="9525" cap="flat">
              <a:solidFill>
                <a:srgbClr val="EEF0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B6067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5B6067"/>
                    </a:solidFill>
                    <a:latin typeface="Arial"/>
                  </a:rPr>
                  <a:t>Calories Burned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1.8745739604635311E-2"/>
          <c:y val="0"/>
          <c:w val="0.96250852079072935"/>
          <c:h val="1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Trend</c:v>
                </c:pt>
              </c:strCache>
            </c:strRef>
          </c:tx>
          <c:spPr>
            <a:ln w="38100" cap="flat">
              <a:solidFill>
                <a:srgbClr val="1668B3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Sheet1!$A$2:$A$3</c:f>
              <c:numCache>
                <c:formatCode>General</c:formatCode>
                <c:ptCount val="2"/>
                <c:pt idx="0">
                  <c:v>500</c:v>
                </c:pt>
                <c:pt idx="1">
                  <c:v>15500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1757.6379755052362</c:v>
                </c:pt>
                <c:pt idx="1">
                  <c:v>2993.8102258667636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763-4A3B-B571-DC884C6ADC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6000"/>
          <c:min val="0"/>
        </c:scaling>
        <c:delete val="1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crossAx val="2094734552"/>
        <c:crosses val="autoZero"/>
        <c:crossBetween val="midCat"/>
      </c:valAx>
      <c:valAx>
        <c:axId val="2094734552"/>
        <c:scaling>
          <c:orientation val="minMax"/>
          <c:max val="3600"/>
          <c:min val="1000"/>
        </c:scaling>
        <c:delete val="1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891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310896" cy="310896"/>
          </a:xfrm>
          <a:prstGeom prst="ellipse">
            <a:avLst/>
          </a:prstGeom>
          <a:solidFill>
            <a:srgbClr val="7FB2E5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663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bellabeat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Bellabeat App User Behavior Analysis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7FB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Insights to Enhance User Engagement and Wellness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Sagar </a:t>
            </a:r>
            <a:r>
              <a:rPr lang="en-US" sz="13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Velip</a:t>
            </a:r>
            <a:r>
              <a:rPr lang="en-US" sz="130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  </a:t>
            </a:r>
            <a:r>
              <a:rPr lang="en-US" sz="1300" dirty="0">
                <a:solidFill>
                  <a:srgbClr val="C7C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6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Fall Short on Activity, Movement, and Sleep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analysis examines one month of smart-device activity, movement, and sleep data to better understand consumer health and fitness behavior. The goal is to help Bellabeat uncover data-driven opportunities to strengthen the Bellabeat App and sharpen the marketing strategy behind it.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269480" y="1783080"/>
            <a:ext cx="4251960" cy="3520440"/>
          </a:xfrm>
          <a:prstGeom prst="roundRect">
            <a:avLst>
              <a:gd name="adj" fmla="val 2338"/>
            </a:avLst>
          </a:prstGeom>
          <a:solidFill>
            <a:srgbClr val="E8F1FA"/>
          </a:solidFill>
          <a:ln/>
          <a:effectLst>
            <a:outerShdw blurRad="152400" dist="38100" dir="5400000" algn="bl" rotWithShape="0">
              <a:srgbClr val="1B1F23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0" y="20391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F4E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589520" y="253288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2" y="2651760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83880" y="25146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users fall short of the 10,000-step goal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589520" y="34015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2" y="352044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83880" y="33832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Sedentary time dominates the average day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7589520" y="427024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2" y="4389120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83880" y="42519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users don't reach 7+ hours of sleep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0080" y="5650992"/>
            <a:ext cx="10911535" cy="585216"/>
          </a:xfrm>
          <a:prstGeom prst="roundRect">
            <a:avLst>
              <a:gd name="adj" fmla="val 10938"/>
            </a:avLst>
          </a:prstGeom>
          <a:solidFill>
            <a:srgbClr val="F6F7F8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5788152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5650992"/>
            <a:ext cx="99056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Methodology:  </a:t>
            </a:r>
            <a:r>
              <a:rPr lang="en-US" sz="135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Fitbit personal-tracker data (not confirmed Bellabeat customers), collected over approximately one month from a small sample.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BELLABEAT APP USER BEHAVIOR ANALYSIS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11094415" y="65471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6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Month of Fitbit Data, Not Bellabeat's Own Customers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 contains daily activity, step, and sleep records voluntarily submitted by Fitbit users. It offers a useful behavioral snapshot, but several limitations shape how the findings should be read.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355184" cy="1417320"/>
          </a:xfrm>
          <a:prstGeom prst="roundRect">
            <a:avLst>
              <a:gd name="adj" fmla="val 5161"/>
            </a:avLst>
          </a:prstGeom>
          <a:solidFill>
            <a:srgbClr val="F6F7F8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825496"/>
            <a:ext cx="420624" cy="420624"/>
          </a:xfrm>
          <a:prstGeom prst="ellipse">
            <a:avLst/>
          </a:prstGeom>
          <a:solidFill>
            <a:srgbClr val="E8F1F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935224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1328" y="2788920"/>
            <a:ext cx="427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Bellabeat Customers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6112" y="3300984"/>
            <a:ext cx="484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comes from Fitbit users, with no confirmed overlap with Bellabeat's customer base.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96432" y="2606040"/>
            <a:ext cx="5355184" cy="1417320"/>
          </a:xfrm>
          <a:prstGeom prst="roundRect">
            <a:avLst>
              <a:gd name="adj" fmla="val 5161"/>
            </a:avLst>
          </a:prstGeom>
          <a:solidFill>
            <a:srgbClr val="F6F7F8"/>
          </a:solidFill>
          <a:ln/>
        </p:spPr>
      </p:sp>
      <p:sp>
        <p:nvSpPr>
          <p:cNvPr id="11" name="Shape 8"/>
          <p:cNvSpPr/>
          <p:nvPr/>
        </p:nvSpPr>
        <p:spPr>
          <a:xfrm>
            <a:off x="6452464" y="2825496"/>
            <a:ext cx="420624" cy="420624"/>
          </a:xfrm>
          <a:prstGeom prst="ellipse">
            <a:avLst/>
          </a:prstGeom>
          <a:solidFill>
            <a:srgbClr val="E8F1F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192" y="2935224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37680" y="2788920"/>
            <a:ext cx="427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Sample Size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52464" y="3300984"/>
            <a:ext cx="484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of contributing users is limited relative to Bellabeat's full user base.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4224528"/>
            <a:ext cx="5355184" cy="1417320"/>
          </a:xfrm>
          <a:prstGeom prst="roundRect">
            <a:avLst>
              <a:gd name="adj" fmla="val 5161"/>
            </a:avLst>
          </a:prstGeom>
          <a:solidFill>
            <a:srgbClr val="F6F7F8"/>
          </a:solidFill>
          <a:ln/>
        </p:spPr>
      </p:sp>
      <p:sp>
        <p:nvSpPr>
          <p:cNvPr id="16" name="Shape 12"/>
          <p:cNvSpPr/>
          <p:nvPr/>
        </p:nvSpPr>
        <p:spPr>
          <a:xfrm>
            <a:off x="896112" y="4443984"/>
            <a:ext cx="420624" cy="420624"/>
          </a:xfrm>
          <a:prstGeom prst="ellipse">
            <a:avLst/>
          </a:prstGeom>
          <a:solidFill>
            <a:srgbClr val="E8F1F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553712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81328" y="4407408"/>
            <a:ext cx="427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Approximately One Month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96112" y="4919472"/>
            <a:ext cx="484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span roughly one month, which may not capture seasonal or longer-term patterns.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196432" y="4224528"/>
            <a:ext cx="5355184" cy="1417320"/>
          </a:xfrm>
          <a:prstGeom prst="roundRect">
            <a:avLst>
              <a:gd name="adj" fmla="val 5161"/>
            </a:avLst>
          </a:prstGeom>
          <a:solidFill>
            <a:srgbClr val="F6F7F8"/>
          </a:solidFill>
          <a:ln/>
        </p:spPr>
      </p:sp>
      <p:sp>
        <p:nvSpPr>
          <p:cNvPr id="21" name="Shape 16"/>
          <p:cNvSpPr/>
          <p:nvPr/>
        </p:nvSpPr>
        <p:spPr>
          <a:xfrm>
            <a:off x="6452464" y="4443984"/>
            <a:ext cx="420624" cy="420624"/>
          </a:xfrm>
          <a:prstGeom prst="ellipse">
            <a:avLst/>
          </a:prstGeom>
          <a:solidFill>
            <a:srgbClr val="E8F1FA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192" y="4553712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37680" y="4407408"/>
            <a:ext cx="427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Demographic or Lifestyle Context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452464" y="4919472"/>
            <a:ext cx="484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Age, gender, stress, hydration, nutrition, and motivation data are not included.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40080" y="577900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limitations mean results should be read as behavioral trends, not definitive conclusions about Bellabeat's customer base.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BELLABEAT APP USER BEHAVIOR ANALYSIS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1094415" y="65471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6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Users Do Not Reach the Recommended 10,000 Steps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166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7,616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640080" y="32369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daily steps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6393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the commonly recommended goal of 10,000 steps/day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892040" y="2221992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ACHIEVEMENT  —  940 daily records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892040" y="2606040"/>
          <a:ext cx="662940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4892040" y="4562856"/>
            <a:ext cx="164592" cy="164592"/>
          </a:xfrm>
          <a:prstGeom prst="rect">
            <a:avLst/>
          </a:prstGeom>
          <a:solidFill>
            <a:srgbClr val="1668B3"/>
          </a:solidFill>
          <a:ln/>
        </p:spPr>
      </p:sp>
      <p:sp>
        <p:nvSpPr>
          <p:cNvPr id="10" name="Text 7"/>
          <p:cNvSpPr/>
          <p:nvPr/>
        </p:nvSpPr>
        <p:spPr>
          <a:xfrm>
            <a:off x="5166360" y="44714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32.23% Reached Goal (≥ 10,000 steps)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21040" y="4562856"/>
            <a:ext cx="164592" cy="164592"/>
          </a:xfrm>
          <a:prstGeom prst="rect">
            <a:avLst/>
          </a:prstGeom>
          <a:solidFill>
            <a:srgbClr val="D8DBDF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0" y="44714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67.77% Below Goal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" y="5650992"/>
            <a:ext cx="10911535" cy="585216"/>
          </a:xfrm>
          <a:prstGeom prst="roundRect">
            <a:avLst>
              <a:gd name="adj" fmla="val 10938"/>
            </a:avLst>
          </a:prstGeom>
          <a:solidFill>
            <a:srgbClr val="F6F7F8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788152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5650992"/>
            <a:ext cx="99056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Opportunity:  </a:t>
            </a:r>
            <a:r>
              <a:rPr lang="en-US" sz="135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step goals, timely reminders, and activity challenges could help close this gap.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BELLABEAT APP USER BEHAVIOR ANALYSIS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11094415" y="65471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6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Sedentary Behavior Dominates Daily Activity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MINUTES PER DAY BY ACTIVITY LEVEL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103120"/>
          <a:ext cx="11002975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074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Sedentary time alone averages ~16.5 hours/day — far more than light, fair, or very active time combined (~3.8 hrs).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40080" y="5650992"/>
            <a:ext cx="10911535" cy="585216"/>
          </a:xfrm>
          <a:prstGeom prst="roundRect">
            <a:avLst>
              <a:gd name="adj" fmla="val 10938"/>
            </a:avLst>
          </a:prstGeom>
          <a:solidFill>
            <a:srgbClr val="F6F7F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788152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5650992"/>
            <a:ext cx="99056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Opportunity:  </a:t>
            </a:r>
            <a:r>
              <a:rPr lang="en-US" sz="135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Inactivity alerts and gentle movement reminders could help break up long sedentary stretches.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BELLABEAT APP USER BEHAVIOR ANALYSIS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1094415" y="65471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6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Half of Users Achieve Healthy Sleep Duration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166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6.99 hrs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27797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sleep duration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1272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healthy range: 7–8 hours/night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892040" y="1581912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DURATION  —  410 sleep records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800600" y="1965960"/>
          <a:ext cx="67208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892040" y="4361688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 of sessions fall in the healthy range  •  44% fall short  •  10% exceed it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5650992"/>
            <a:ext cx="10911535" cy="585216"/>
          </a:xfrm>
          <a:prstGeom prst="roundRect">
            <a:avLst>
              <a:gd name="adj" fmla="val 10938"/>
            </a:avLst>
          </a:prstGeom>
          <a:solidFill>
            <a:srgbClr val="F6F7F8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78815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5650992"/>
            <a:ext cx="99056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Opportunity:  </a:t>
            </a:r>
            <a:r>
              <a:rPr lang="en-US" sz="135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tracking and bedtime reminders could help more users consistently reach a healthy range.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BELLABEAT APP USER BEHAVIOR ANALYSIS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11094415" y="65471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6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and Calories Burned Have a Moderate Positive Relationship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166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0.59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9626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coefficient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166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= 0.35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41056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variation in calories explained by steps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60520" y="1417320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VS. CALORIES BURNED </a:t>
            </a:r>
            <a:endParaRPr lang="en-US" sz="11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160520" y="1783080"/>
          <a:ext cx="745236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1"/>
          <p:cNvGraphicFramePr/>
          <p:nvPr>
            <p:extLst>
              <p:ext uri="{D42A27DB-BD31-4B8C-83A1-F6EECF244321}">
                <p14:modId xmlns:p14="http://schemas.microsoft.com/office/powerpoint/2010/main" val="1717925701"/>
              </p:ext>
            </p:extLst>
          </p:nvPr>
        </p:nvGraphicFramePr>
        <p:xfrm>
          <a:off x="4160520" y="1783080"/>
          <a:ext cx="745236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640080" y="5650992"/>
            <a:ext cx="10911535" cy="585216"/>
          </a:xfrm>
          <a:prstGeom prst="roundRect">
            <a:avLst>
              <a:gd name="adj" fmla="val 10938"/>
            </a:avLst>
          </a:prstGeom>
          <a:solidFill>
            <a:srgbClr val="F6F7F8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78815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5650992"/>
            <a:ext cx="99056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Opportunity:  </a:t>
            </a:r>
            <a:r>
              <a:rPr lang="en-US" sz="135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Reinforces the core value of activity tracking within the Bellabeat App.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BELLABEAT APP USER BEHAVIOR ANALYSIS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11094415" y="65471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6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Behavior Signals a Clear Need for Personalized Support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3818" cy="1874520"/>
          </a:xfrm>
          <a:prstGeom prst="roundRect">
            <a:avLst>
              <a:gd name="adj" fmla="val 3902"/>
            </a:avLst>
          </a:prstGeom>
          <a:solidFill>
            <a:srgbClr val="F6F7F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3911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514600"/>
            <a:ext cx="28751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6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914400" y="3081528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records fall short of the 10,000-step goal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83938" y="1783080"/>
            <a:ext cx="3423818" cy="1874520"/>
          </a:xfrm>
          <a:prstGeom prst="roundRect">
            <a:avLst>
              <a:gd name="adj" fmla="val 3902"/>
            </a:avLst>
          </a:prstGeom>
          <a:solidFill>
            <a:srgbClr val="F6F7F8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258" y="203911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58258" y="2514600"/>
            <a:ext cx="28751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6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~16.5 hrs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4658258" y="3081528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spent sedentary on an average day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127797" y="1783080"/>
            <a:ext cx="3423818" cy="1874520"/>
          </a:xfrm>
          <a:prstGeom prst="roundRect">
            <a:avLst>
              <a:gd name="adj" fmla="val 3902"/>
            </a:avLst>
          </a:prstGeom>
          <a:solidFill>
            <a:srgbClr val="F6F7F8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2117" y="203911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02117" y="2514600"/>
            <a:ext cx="28751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6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3200" dirty="0"/>
          </a:p>
        </p:txBody>
      </p:sp>
      <p:sp>
        <p:nvSpPr>
          <p:cNvPr id="15" name="Text 10"/>
          <p:cNvSpPr/>
          <p:nvPr/>
        </p:nvSpPr>
        <p:spPr>
          <a:xfrm>
            <a:off x="8402117" y="3081528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sleep sessions run under 7 hours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3977640"/>
            <a:ext cx="10911535" cy="1051560"/>
          </a:xfrm>
          <a:prstGeom prst="roundRect">
            <a:avLst>
              <a:gd name="adj" fmla="val 7826"/>
            </a:avLst>
          </a:prstGeom>
          <a:solidFill>
            <a:srgbClr val="E8F1FA"/>
          </a:solidFill>
          <a:ln/>
        </p:spPr>
      </p:sp>
      <p:sp>
        <p:nvSpPr>
          <p:cNvPr id="17" name="Text 12"/>
          <p:cNvSpPr/>
          <p:nvPr/>
        </p:nvSpPr>
        <p:spPr>
          <a:xfrm>
            <a:off x="1005840" y="397764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Together, these patterns point to one conclusion: users need more than passive tracking — they need proactive, personalized guidance.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40080" y="5650992"/>
            <a:ext cx="10911535" cy="585216"/>
          </a:xfrm>
          <a:prstGeom prst="roundRect">
            <a:avLst>
              <a:gd name="adj" fmla="val 10938"/>
            </a:avLst>
          </a:prstGeom>
          <a:solidFill>
            <a:srgbClr val="F6F7F8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578815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5650992"/>
            <a:ext cx="99056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Opportunity:  </a:t>
            </a:r>
            <a:r>
              <a:rPr lang="en-US" sz="135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the Bellabeat App as a proactive wellness assistant, not just a passive data tracker.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BELLABEAT APP USER BEHAVIOR ANALYSIS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11094415" y="65471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66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Bellabeat Can Turn Insights Into Engagement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18608" cy="1874520"/>
          </a:xfrm>
          <a:prstGeom prst="roundRect">
            <a:avLst>
              <a:gd name="adj" fmla="val 3902"/>
            </a:avLst>
          </a:prstGeom>
          <a:solidFill>
            <a:srgbClr val="F6F7F8"/>
          </a:solidFill>
          <a:ln/>
          <a:effectLst>
            <a:outerShdw blurRad="152400" dist="38100" dir="5400000" algn="bl" rotWithShape="0">
              <a:srgbClr val="1B1F23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67128"/>
            <a:ext cx="548640" cy="548640"/>
          </a:xfrm>
          <a:prstGeom prst="ellipse">
            <a:avLst/>
          </a:prstGeom>
          <a:solidFill>
            <a:srgbClr val="1668B3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2112264"/>
            <a:ext cx="403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Step Goals &amp; Achievement Badges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2926080"/>
            <a:ext cx="473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 daily targets to individual baselines and celebrate milestones as users hit them.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3008" y="1874520"/>
            <a:ext cx="5318608" cy="1874520"/>
          </a:xfrm>
          <a:prstGeom prst="roundRect">
            <a:avLst>
              <a:gd name="adj" fmla="val 3902"/>
            </a:avLst>
          </a:prstGeom>
          <a:solidFill>
            <a:srgbClr val="F6F7F8"/>
          </a:solidFill>
          <a:ln/>
          <a:effectLst>
            <a:outerShdw blurRad="152400" dist="38100" dir="5400000" algn="bl" rotWithShape="0">
              <a:srgbClr val="1B1F23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25616" y="2167128"/>
            <a:ext cx="548640" cy="548640"/>
          </a:xfrm>
          <a:prstGeom prst="ellipse">
            <a:avLst/>
          </a:prstGeom>
          <a:solidFill>
            <a:srgbClr val="1668B3"/>
          </a:solidFill>
          <a:ln/>
        </p:spPr>
      </p:sp>
      <p:sp>
        <p:nvSpPr>
          <p:cNvPr id="11" name="Text 9"/>
          <p:cNvSpPr/>
          <p:nvPr/>
        </p:nvSpPr>
        <p:spPr>
          <a:xfrm>
            <a:off x="6525616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38848" y="2112264"/>
            <a:ext cx="403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Inactivity Alerts &amp; Movement Reminders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25616" y="2926080"/>
            <a:ext cx="473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users to stand and move during long sedentary stretches throughout the day.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318608" cy="1874520"/>
          </a:xfrm>
          <a:prstGeom prst="roundRect">
            <a:avLst>
              <a:gd name="adj" fmla="val 3902"/>
            </a:avLst>
          </a:prstGeom>
          <a:solidFill>
            <a:srgbClr val="F6F7F8"/>
          </a:solidFill>
          <a:ln/>
          <a:effectLst>
            <a:outerShdw blurRad="152400" dist="38100" dir="5400000" algn="bl" rotWithShape="0">
              <a:srgbClr val="1B1F23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4315968"/>
            <a:ext cx="548640" cy="548640"/>
          </a:xfrm>
          <a:prstGeom prst="ellipse">
            <a:avLst/>
          </a:prstGeom>
          <a:solidFill>
            <a:srgbClr val="1668B3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315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5920" y="4261104"/>
            <a:ext cx="403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Tracking &amp; Bedtime Reminders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2688" y="5074920"/>
            <a:ext cx="473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users build consistent routines that support a full 7–9 hours of sleep.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33008" y="4023360"/>
            <a:ext cx="5318608" cy="1874520"/>
          </a:xfrm>
          <a:prstGeom prst="roundRect">
            <a:avLst>
              <a:gd name="adj" fmla="val 3902"/>
            </a:avLst>
          </a:prstGeom>
          <a:solidFill>
            <a:srgbClr val="F6F7F8"/>
          </a:solidFill>
          <a:ln/>
          <a:effectLst>
            <a:outerShdw blurRad="152400" dist="38100" dir="5400000" algn="bl" rotWithShape="0">
              <a:srgbClr val="1B1F23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25616" y="4315968"/>
            <a:ext cx="548640" cy="548640"/>
          </a:xfrm>
          <a:prstGeom prst="ellipse">
            <a:avLst/>
          </a:prstGeom>
          <a:solidFill>
            <a:srgbClr val="1668B3"/>
          </a:solidFill>
          <a:ln/>
        </p:spPr>
      </p:sp>
      <p:sp>
        <p:nvSpPr>
          <p:cNvPr id="21" name="Text 19"/>
          <p:cNvSpPr/>
          <p:nvPr/>
        </p:nvSpPr>
        <p:spPr>
          <a:xfrm>
            <a:off x="6525616" y="4315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38848" y="4261104"/>
            <a:ext cx="403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B2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Wellness Insights &amp; Progress Tracking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25616" y="5074920"/>
            <a:ext cx="473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raw activity data into clear, motivating narratives about individual progress.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BELLABEAT APP USER BEHAVIOR ANALYSIS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094415" y="65471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FB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Points to One Clear Next Step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FB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7,616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daily steps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297680" y="1783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FB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~16.5 hrs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29768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sedentary per day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955280" y="1783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FB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6.99 hrs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95528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sleep duration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10911535" cy="1691640"/>
          </a:xfrm>
          <a:prstGeom prst="roundRect">
            <a:avLst>
              <a:gd name="adj" fmla="val 5405"/>
            </a:avLst>
          </a:prstGeom>
          <a:solidFill>
            <a:srgbClr val="26292E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063240"/>
            <a:ext cx="999713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“Empower users with personalized wellness support through the Bellabeat App.”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" y="50749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7FB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 </a:t>
            </a:r>
            <a:r>
              <a:rPr lang="en-US" sz="1450" dirty="0">
                <a:solidFill>
                  <a:srgbClr val="C7C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 marketing strategy centered on activity, sleep, and movement features.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B9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BELLABEAT APP USER BEHAVIOR ANALYSIS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094415" y="65471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310896" cy="310896"/>
          </a:xfrm>
          <a:prstGeom prst="ellipse">
            <a:avLst/>
          </a:prstGeom>
          <a:solidFill>
            <a:srgbClr val="7FB2E5"/>
          </a:solidFill>
          <a:ln/>
        </p:spPr>
      </p:sp>
      <p:sp>
        <p:nvSpPr>
          <p:cNvPr id="3" name="Text 1"/>
          <p:cNvSpPr/>
          <p:nvPr/>
        </p:nvSpPr>
        <p:spPr>
          <a:xfrm>
            <a:off x="1060704" y="4663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bellabeat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FB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Sagar </a:t>
            </a:r>
            <a:r>
              <a:rPr lang="en-US" sz="13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Velip</a:t>
            </a:r>
            <a:r>
              <a:rPr lang="en-US" sz="1300" dirty="0">
                <a:solidFill>
                  <a:srgbClr val="6B7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 sagarvelip.data.analyst@gmail.com  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8B9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BELLABEAT APP USER BEHAVIOR ANALYSIS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94415" y="65471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EEF0BFE9-DCE3-EA66-77A2-1B35D8248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Google Sans"/>
              </a:rPr>
              <a:t>sagarvelip.data.analyst@gmail.com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2" descr="Profile image">
            <a:extLst>
              <a:ext uri="{FF2B5EF4-FFF2-40B4-BE49-F238E27FC236}">
                <a16:creationId xmlns:a16="http://schemas.microsoft.com/office/drawing/2014/main" id="{71E6659B-4669-76C5-BF27-8B66DE5121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820</Words>
  <Application>Microsoft Office PowerPoint</Application>
  <PresentationFormat>Widescreen</PresentationFormat>
  <Paragraphs>126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Bellabeat App User Behavior Analysis</dc:title>
  <dc:subject>PptxGenJS Presentation</dc:subject>
  <dc:creator>Bellabeat Analytics</dc:creator>
  <cp:lastModifiedBy>velipkarishma22@gmail.com</cp:lastModifiedBy>
  <cp:revision>1</cp:revision>
  <dcterms:created xsi:type="dcterms:W3CDTF">2026-07-03T07:12:46Z</dcterms:created>
  <dcterms:modified xsi:type="dcterms:W3CDTF">2026-07-10T07:58:28Z</dcterms:modified>
</cp:coreProperties>
</file>